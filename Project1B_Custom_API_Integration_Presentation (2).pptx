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9720" y="1143000"/>
            <a:ext cx="1325880" cy="1325880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48088" y="1801368"/>
            <a:ext cx="1325880" cy="1325880"/>
          </a:xfrm>
          <a:prstGeom prst="ellipse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06456" y="2459736"/>
            <a:ext cx="1325880" cy="1325880"/>
          </a:xfrm>
          <a:prstGeom prst="ellipse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7223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BEBE"/>
                </a:solidFill>
                <a:latin typeface="Aptos"/>
              </a:rPr>
              <a:t>ZHETHETA  •  PROJECT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2237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Custom API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7223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SAP S/4HANA → FinSight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657600"/>
            <a:ext cx="6858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EE8F1"/>
                </a:solidFill>
                <a:latin typeface="Aptos"/>
              </a:rPr>
              <a:t>A secure, auditable financial-data pipeline designed for controlled delta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892040"/>
            <a:ext cx="2011680" cy="329184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910327"/>
            <a:ext cx="19202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DESIGN &amp;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08076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5D3E1"/>
                </a:solidFill>
                <a:latin typeface="Aptos"/>
              </a:rPr>
              <a:t>Scenario: Meridian Manufacturing Ltd.  |  Prepared for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00600"/>
            <a:ext cx="2377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SOURCE
SAP S/4HANA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687568"/>
            <a:ext cx="23774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TARGET
FinSight 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BUSINESS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The scenario describes a 24-hour finance-data visibility gap between the ERP and analytics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82296" cy="18288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The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Use governed SAP extraction, validation, transformation, queue-based delivery and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The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Aim for 30-minute delta cycles outside the SAP nightly batch window, subject to sandbox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2233E"/>
                </a:solidFill>
                <a:latin typeface="Aptos"/>
              </a:rPr>
              <a:t>Success is measured through operational evidence—not assumed from the 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10515600" cy="137160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Protect SAP performance and financial-data integrity.</a:t>
            </a:r>
          </a:p>
          <a:p>
            <a:pPr>
              <a:spcAft>
                <a:spcPts val="7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Keep financial-data processing and storage within India.</a:t>
            </a:r>
          </a:p>
          <a:p>
            <a:pPr>
              <a:spcAft>
                <a:spcPts val="7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Provide traceability, exception handling and auditable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Business goals &amp; design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3035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36118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49560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Business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937759" cy="2953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303E"/>
                </a:solidFill>
                <a:latin typeface="Aptos"/>
              </a:rPr>
              <a:t>• Reduce visibility delay toward 30-minute delta cycles
• Support 7 plants and 3 SAP company codes
• Preserve CGST, SGST and IGST components
• Trace each source record through load and reconciliation
• Keep processing and storage in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361188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49103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Operational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892040" cy="2953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• SAP batch window: 01:00–04:30 IST — no heavy extraction
• ODP delta: no more than once per 30 minutes/provider
• RFC pool: design for ≤40 of 50 connections
• MPLS: target ≤25% bandwidth during business hours
• Observe SAP and FinSight maintenance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F80"/>
                </a:solidFill>
                <a:latin typeface="Aptos"/>
              </a:rPr>
              <a:t>These values come from the supplied project design brief and must be confirmed with system owners.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Proposed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SOLUTION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554480" cy="150876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139696"/>
            <a:ext cx="14081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SAP S/4HANA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70048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CDS / OData
or approved ODP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1" y="2679192"/>
            <a:ext cx="338329" cy="0"/>
          </a:xfrm>
          <a:prstGeom prst="line">
            <a:avLst/>
          </a:prstGeom>
          <a:ln w="25400">
            <a:solidFill>
              <a:srgbClr val="5F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1920240"/>
            <a:ext cx="1554480" cy="1508760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2139696"/>
            <a:ext cx="14081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API gateway
&amp;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70048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Access control
and orchestration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50792" y="2679192"/>
            <a:ext cx="338328" cy="0"/>
          </a:xfrm>
          <a:prstGeom prst="line">
            <a:avLst/>
          </a:prstGeom>
          <a:ln w="25400">
            <a:solidFill>
              <a:srgbClr val="5F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34840" y="1920240"/>
            <a:ext cx="1554480" cy="1508760"/>
          </a:xfrm>
          <a:prstGeom prst="round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139696"/>
            <a:ext cx="14081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Validate &amp;
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670048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Domain rules
and mapping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2679192"/>
            <a:ext cx="338328" cy="0"/>
          </a:xfrm>
          <a:prstGeom prst="line">
            <a:avLst/>
          </a:prstGeom>
          <a:ln w="25400">
            <a:solidFill>
              <a:srgbClr val="5F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1920240"/>
            <a:ext cx="1554480" cy="1508760"/>
          </a:xfrm>
          <a:prstGeom prst="round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139696"/>
            <a:ext cx="140817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670048"/>
            <a:ext cx="14081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Buffer, retry
and replay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82711" y="2679192"/>
            <a:ext cx="338329" cy="0"/>
          </a:xfrm>
          <a:prstGeom prst="line">
            <a:avLst/>
          </a:prstGeom>
          <a:ln w="25400">
            <a:solidFill>
              <a:srgbClr val="5F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66760" y="1920240"/>
            <a:ext cx="1417320" cy="1508760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2139696"/>
            <a:ext cx="127101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FinSight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2670048"/>
            <a:ext cx="127101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Controlled
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11512" y="2679192"/>
            <a:ext cx="246888" cy="0"/>
          </a:xfrm>
          <a:prstGeom prst="line">
            <a:avLst/>
          </a:prstGeom>
          <a:ln w="25400">
            <a:solidFill>
              <a:srgbClr val="5F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04120" y="1920240"/>
            <a:ext cx="1600200" cy="150876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77272" y="2139696"/>
            <a:ext cx="14538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Reconcile &amp;
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2670048"/>
            <a:ext cx="14538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Counts, totals
and lineage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160520"/>
            <a:ext cx="4754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160520"/>
            <a:ext cx="82296" cy="123444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306824"/>
            <a:ext cx="44074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Resilience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4727448"/>
            <a:ext cx="438912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Queue-based decoupling lets extraction and target loading scale independently.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60520"/>
            <a:ext cx="4754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160520"/>
            <a:ext cx="82296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306824"/>
            <a:ext cx="44074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Control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4727448"/>
            <a:ext cx="438912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Idempotency, checkpoints and reconciliation protect against duplicate or missing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Data domains &amp; mapping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DATA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10515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General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Journals, balances, fiscal periods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82296" cy="105156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Accounts payable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9842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Vendor invoices, due dates, tax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417320"/>
            <a:ext cx="82296" cy="105156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Accounts receivable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19842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Customer invoices, receipts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88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788920"/>
            <a:ext cx="82296" cy="10515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9352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Cost &amp; profit centres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3558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Organisational dimensions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788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2788920"/>
            <a:ext cx="82296" cy="105156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29352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Materials &amp;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3558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Material ledger, inventory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7889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2788920"/>
            <a:ext cx="82296" cy="105156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29352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Orders &amp;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3558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Purchase/sales orders, fixed assets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16052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160520"/>
            <a:ext cx="82296" cy="10515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3068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Bank &amp; budgets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727448"/>
            <a:ext cx="306324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Bank statements, budget vs actual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06440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Mapping workbook: MAP_AllDomains_v1.xlsx — field-level mappings and transformation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API contract &amp; integration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INTERFACE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20116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9103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SAP source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89204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OpenAPI 3.0.3 design for approved CDS/OData or ODP-based extraction. Source paths, schemas and delta behavior require owner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201168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63624"/>
            <a:ext cx="49103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FinSight destination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89204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OpenAPI 3.0.3 design for controlled loads, status handling and idempotency. OAuth scopes, quotas and payload schemas must be confirmed.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Artifacts in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424160" cy="128016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api/API_SAP_AllDomains.yaml and api/API_FinSight_AllDomains.yaml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postman/Project1B_Postman_Collection.json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Use versioned contracts and contract smoke tests before enabling a domain.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Security, privacy &amp; data residency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NON-FUNCTIONAL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82296" cy="10972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51790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Transport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3852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TLS 1.2+ in transit; encryption at rest with managed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716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371600"/>
            <a:ext cx="82296" cy="10972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151790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193852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OAuth 2.0 client credentials for FinSight; least-privilege SAP technical 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88920"/>
            <a:ext cx="82296" cy="10972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93522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5584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Managed vault; no credentials, tokens or secrets in Git or 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78892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788920"/>
            <a:ext cx="82296" cy="10972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293522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335584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Sanitized structured logs; avoid full financial payloads and sensitive identifiers.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0624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06240"/>
            <a:ext cx="82296" cy="10972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35254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77316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Role-based permissions for dashboards, replay tools and dead-letter operations.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20624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206240"/>
            <a:ext cx="82296" cy="10972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7" y="435254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Residency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7" y="4773168"/>
            <a:ext cx="48006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Keep processing, storage and audit evidence within India-region resources.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F80"/>
                </a:solidFill>
                <a:latin typeface="Aptos"/>
              </a:rPr>
              <a:t>Security configuration must be reviewed with platform and client IT owners before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Error handling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82296" cy="102412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51790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Transient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38528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Timeout / 5xx → exponential backoff with jitter; bounded attempts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71600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371600"/>
            <a:ext cx="82296" cy="1024128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151790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Rate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1938528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HTTP 429 → honour Retry-After and quota headers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24912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24912"/>
            <a:ext cx="82296" cy="1024128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871216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91840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401/403 → refresh once if valid; otherwise stop and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724912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724912"/>
            <a:ext cx="82296" cy="1024128"/>
          </a:xfrm>
          <a:prstGeom prst="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2871216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3291840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Missing/invalid data → quarantine and create exception record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78224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078224"/>
            <a:ext cx="82296" cy="102412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224528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Permanent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645152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Unsupported schema/rule → classify and dead-letter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078224"/>
            <a:ext cx="51663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078224"/>
            <a:ext cx="82296" cy="1024128"/>
          </a:xfrm>
          <a:prstGeom prst="rect">
            <a:avLst/>
          </a:prstGeom>
          <a:solidFill>
            <a:srgbClr val="5F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7" y="4224528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System outage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7" y="4645152"/>
            <a:ext cx="4800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Pause consumer, preserve offsets and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50992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233E"/>
                </a:solidFill>
                <a:latin typeface="Aptos"/>
              </a:rPr>
              <a:t>Checkpoint rule: do not advance the delta checkpoint until data is durably staged and the batch outcome is recorded.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Reconciliation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FINANCIAL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19202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306324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Extracted = accepted + quarantined + explicitly rejected.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82296" cy="192024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6324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Compare source and target values and financial totals.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92024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06324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Resolve references and cross-domain keys; detect duplicates.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10515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Target thresholds from the project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43400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61688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Completeness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61688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&gt;99.5%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43400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361688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61688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&gt;99.9%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343400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361688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361688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100%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056632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Timeliness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0749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&gt;98%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5056632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07492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Validity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0749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&gt;99%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5056632"/>
            <a:ext cx="1828800" cy="329184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507492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2233E"/>
                </a:solidFill>
                <a:latin typeface="Aptos"/>
              </a:rPr>
              <a:t>Uniqueness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50749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91"/>
                </a:solidFill>
                <a:latin typeface="Aptos"/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94360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F80"/>
                </a:solidFill>
                <a:latin typeface="Aptos"/>
              </a:rPr>
              <a:t>Targets are acceptance criteria; they are not measured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Monitoring &amp;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82296" cy="347472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17904"/>
            <a:ext cx="49103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Core dashboard panels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4892040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303E"/>
                </a:solidFill>
                <a:latin typeface="Aptos"/>
              </a:rPr>
              <a:t>• Pipeline health and freshness by domain
• Throughput and P95 API latency
• Error rate by class and retry bursts
• Dead-letter queue depth and oldest age
• Reconciliation status and variance
• SAP RFC pool utilisation
• FinSight quota headroom and token expiry
• Kafka lag, resource use and checkpoint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82296" cy="347472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17904"/>
            <a:ext cx="49103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Alert severity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38528"/>
            <a:ext cx="4892040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P1 — outage, suspected data loss, error rate &gt;5%, DLQ &gt;500, stale &gt;4h
P2 — reconciliation break, RFC &gt;90%, CPU/memory &gt;90%, quota headroom &lt;10%
P3 — approaching freshness SLA, latency increase, retry bursts
P4 — planned maintenance and informational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E"/>
                </a:solidFill>
                <a:latin typeface="Aptos"/>
              </a:rPr>
              <a:t>Every alert should include an owner, runbook, correlation ID, batch ID, impact and escalation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Integration 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18288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Contract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Validate schemas, required fields, status codes and auth behavior against approved contracts.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82296" cy="182880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Financial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Check debit-credit balance, GST component preservation, currency metadata and totals.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Failure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Exercise retries, 429 handling, DLQ, replay, duplicate prevention and checkpoint safety.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10332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Repository test artifact: TST_Integration_25_Scenarios.md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10424160" cy="12344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Run contract smoke tests and sample data validation in the sandbox.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Record evidence, actual outcomes, defects and sign-off per scenario.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No live integration tests have been performed for this design package.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Deployment, release &amp;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OPERATIONAL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82296" cy="20116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92224"/>
            <a:ext cx="2212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1.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219456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CAB/change approval
Secrets, TLS, allowlists
India region 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82296" cy="201168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792224"/>
            <a:ext cx="2212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2.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212848"/>
            <a:ext cx="219456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Staging connectivity
Contract smoke tests
Controlled sample extraction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645920"/>
            <a:ext cx="82296" cy="201168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792224"/>
            <a:ext cx="2212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3.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212848"/>
            <a:ext cx="219456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Enable one low-risk domain
Check reconciliation
Watch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645920"/>
            <a:ext cx="82296" cy="20116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792224"/>
            <a:ext cx="2212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4. 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212848"/>
            <a:ext cx="219456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03E"/>
                </a:solidFill>
                <a:latin typeface="Aptos"/>
              </a:rPr>
              <a:t>Enable domains in groups
Finance + IT sign-off
Record release/version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5196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51960"/>
            <a:ext cx="82296" cy="1143000"/>
          </a:xfrm>
          <a:prstGeom prst="rect">
            <a:avLst/>
          </a:prstGeom>
          <a:solidFill>
            <a:srgbClr val="C2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44074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Rollback triggers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818888"/>
            <a:ext cx="43891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Data loss, duplicate financial records, unresolved reconciliation break, sustained P1 or security failure.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5196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251960"/>
            <a:ext cx="82296" cy="1143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398264"/>
            <a:ext cx="44074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Rollback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818888"/>
            <a:ext cx="43891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Disable ingestion, stop consumers safely, preserve offsets/audit evidence, revert and validate before controlled restart.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Key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82296" cy="100584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47218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API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7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Validate placeholder contracts with FinSight and SAP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25880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325880"/>
            <a:ext cx="82296" cy="100584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1472184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SAP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1892807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Enforce extraction cadence, concurrency and batch blackout.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79191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679191"/>
            <a:ext cx="82296" cy="100584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825496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Duplicate 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46120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Idempotency keys and duplicate detection on retry/replay.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679191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679191"/>
            <a:ext cx="82296" cy="10058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7" y="2825496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Data-quality breaks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3246120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Quarantine, reconcile, assign exception owners.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032504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032504"/>
            <a:ext cx="82296" cy="10058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178808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Secret 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59943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Vault-based secrets, repository scanning and log redaction.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032504"/>
            <a:ext cx="5166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4032504"/>
            <a:ext cx="82296" cy="10058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7" y="4178808"/>
            <a:ext cx="4818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Residency violation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7" y="459943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303E"/>
                </a:solidFill>
                <a:latin typeface="Aptos"/>
              </a:rPr>
              <a:t>India-region deployment guardrails and audit checks.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233E"/>
                </a:solidFill>
                <a:latin typeface="Aptos"/>
              </a:rPr>
              <a:t>Highest-priority next action: verify real endpoint contracts, authentication scopes, payloads and quotas in the sandbox.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E"/>
                </a:solidFill>
                <a:latin typeface="Aptos"/>
              </a:rPr>
              <a:t>Stakeholders &amp; 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9191"/>
                </a:solidFill>
                <a:latin typeface="Aptos"/>
              </a:rPr>
              <a:t>DELIVERY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8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F80"/>
                </a:solidFill>
                <a:latin typeface="Aptos"/>
              </a:rPr>
              <a:t>ZHETHETA PROJECT 1B  •  DESIGN &amp; SIMULATION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F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20574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Client IT / SAP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306324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Confirm source interfaces, access, provider cadence, maintenance windows and performance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82296" cy="2057400"/>
          </a:xfrm>
          <a:prstGeom prst="rect">
            <a:avLst/>
          </a:prstGeom>
          <a:solidFill>
            <a:srgbClr val="51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FinSight / platform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84248"/>
            <a:ext cx="306324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Confirm destination API, OAuth scopes, quotas, schema behavior and operational ownership.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2057400"/>
          </a:xfrm>
          <a:prstGeom prst="rect">
            <a:avLst/>
          </a:prstGeom>
          <a:solidFill>
            <a:srgbClr val="E6A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E"/>
                </a:solidFill>
                <a:latin typeface="Aptos"/>
              </a:rPr>
              <a:t>Finance / 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06324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303E"/>
                </a:solidFill>
                <a:latin typeface="Aptos"/>
              </a:rPr>
              <a:t>Approve reconciliation controls, exception thresholds, GST treatment and acceptance criteria.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33E"/>
                </a:solidFill>
                <a:latin typeface="Aptos"/>
              </a:rPr>
              <a:t>Measure after a baseline is established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424160" cy="1234440"/>
          </a:xfrm>
          <a:prstGeom prst="rect">
            <a:avLst/>
          </a:prstGeom>
          <a:noFill/>
        </p:spPr>
        <p:txBody>
          <a:bodyPr wrap="square" lIns="109728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Data freshness and percentage of batches reconciled.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Manual reconciliation effort and time to detect breaks.</a:t>
            </a:r>
          </a:p>
          <a:p>
            <a:pPr>
              <a:spcAft>
                <a:spcPts val="7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Failed-batch recovery time, exception age and operational impact.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BEBE"/>
                </a:solidFill>
                <a:latin typeface="Aptos"/>
              </a:rPr>
              <a:t>PROJECT 1B  •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Design first. Validate before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424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CE8F2"/>
                </a:solidFill>
                <a:latin typeface="Aptos"/>
              </a:rPr>
              <a:t>The proposed architecture combines controlled extraction, resilient delivery, financial reconciliation and operational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383280"/>
            <a:ext cx="10607040" cy="1417320"/>
          </a:xfrm>
          <a:prstGeom prst="roundRect">
            <a:avLst/>
          </a:prstGeom>
          <a:solidFill>
            <a:srgbClr val="1D3557"/>
          </a:solidFill>
          <a:ln w="1905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99669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VALIDATION NOTE
This is a design/simulation package. Actual SAP/FinSight hosts, schemas, credentials and OAuth scopes were not supplied. API contracts are illustrative; live testing and production readiness are not claimed.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1BEBE"/>
                </a:solidFill>
                <a:latin typeface="Aptos"/>
              </a:rPr>
              <a:t>Recommended decision: approve a sandbox validation phase with SAP, FinSight, client IT and Finance stakeholders.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10424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5D3E1"/>
                </a:solidFill>
                <a:latin typeface="Aptos"/>
              </a:rPr>
              <a:t>ZHETHETA PROJECT 1B  •  CUSTOM API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